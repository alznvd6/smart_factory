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Vazirmatn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Vazirmatn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Vazirmatn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Vazirmatn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Vazirmatn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Vazirmatn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Vazirmatn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Vazirmatn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Vazirmatn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7.jpe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.png"/><Relationship Id="rId14" Type="http://schemas.openxmlformats.org/officeDocument/2006/relationships/image" Target="../media/image-5-2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7579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SMART Factory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042047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04000"/>
              </a:lnSpc>
              <a:buNone/>
            </a:pPr>
            <a:r>
              <a:rPr lang="fa-IR" altLang="en-US" sz="22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پلتفرم اتوماسیون صنعتی یکپارچه</a:t>
            </a:r>
            <a:endParaRPr lang="fa-IR" sz="2200" dirty="0"/>
          </a:p>
        </p:txBody>
      </p:sp>
      <p:sp>
        <p:nvSpPr>
          <p:cNvPr id="4" name="Text 2"/>
          <p:cNvSpPr/>
          <p:nvPr/>
        </p:nvSpPr>
        <p:spPr>
          <a:xfrm>
            <a:off x="356682" y="367992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ctr" indent="0" marL="0">
              <a:lnSpc>
                <a:spcPct val="133000"/>
              </a:lnSpc>
              <a:buNone/>
            </a:pPr>
            <a:r>
              <a:rPr lang="fa-IR" altLang="en-US" sz="145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طراحی و پیاده‌سازی سیستم کارخانه هوشمند بر پایه </a:t>
            </a:r>
            <a:pPr rtl="1" algn="ctr" indent="0" marL="0">
              <a:lnSpc>
                <a:spcPct val="133000"/>
              </a:lnSpc>
              <a:buNone/>
            </a:pPr>
            <a:r>
              <a:rPr lang="fa-IR" altLang="en-US" sz="14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STM32F103</a:t>
            </a:r>
            <a:pPr rtl="1" algn="ctr" indent="0" marL="0">
              <a:lnSpc>
                <a:spcPct val="133000"/>
              </a:lnSpc>
              <a:buNone/>
            </a:pPr>
            <a:r>
              <a:rPr lang="fa-IR" altLang="en-US" sz="145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و سیستم‌عامل بلادرنگ </a:t>
            </a:r>
            <a:pPr rtl="1" algn="ctr" indent="0" marL="0">
              <a:lnSpc>
                <a:spcPct val="133000"/>
              </a:lnSpc>
              <a:buNone/>
            </a:pPr>
            <a:r>
              <a:rPr lang="fa-IR" altLang="en-US" sz="14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FreeRTOS</a:t>
            </a:r>
            <a:endParaRPr lang="fa-IR" sz="1450" dirty="0"/>
          </a:p>
        </p:txBody>
      </p:sp>
      <p:sp>
        <p:nvSpPr>
          <p:cNvPr id="5" name="Shape 3"/>
          <p:cNvSpPr/>
          <p:nvPr/>
        </p:nvSpPr>
        <p:spPr>
          <a:xfrm>
            <a:off x="6229889" y="4194969"/>
            <a:ext cx="1090883" cy="287139"/>
          </a:xfrm>
          <a:prstGeom prst="roundRect">
            <a:avLst>
              <a:gd name="adj" fmla="val 22118"/>
            </a:avLst>
          </a:prstGeom>
          <a:solidFill>
            <a:srgbClr val="0A004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6162" y="4262934"/>
            <a:ext cx="151206" cy="1512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33708" y="4251623"/>
            <a:ext cx="124685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ar-SA" altLang="en-US" sz="115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صنعت ۴.۰</a:t>
            </a:r>
            <a:endParaRPr lang="ar-SA" sz="1150" dirty="0"/>
          </a:p>
        </p:txBody>
      </p:sp>
      <p:sp>
        <p:nvSpPr>
          <p:cNvPr id="8" name="Shape 5"/>
          <p:cNvSpPr/>
          <p:nvPr/>
        </p:nvSpPr>
        <p:spPr>
          <a:xfrm>
            <a:off x="4871023" y="4194969"/>
            <a:ext cx="1264412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2B0A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825" y="4262934"/>
            <a:ext cx="151206" cy="1512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74842" y="4251623"/>
            <a:ext cx="142038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96000"/>
              </a:lnSpc>
              <a:buNone/>
            </a:pPr>
            <a:r>
              <a:rPr lang="fa-IR" altLang="en-US" sz="1150" dirty="0">
                <a:solidFill>
                  <a:srgbClr val="2B0A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پایش بلادرنگ</a:t>
            </a:r>
            <a:endParaRPr lang="fa-IR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066"/>
            <a:ext cx="10868745" cy="429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27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گذار از کارخانه سنتی به صنعت ۴.۰</a:t>
            </a:r>
            <a:endParaRPr lang="fa-IR" sz="2700" dirty="0"/>
          </a:p>
        </p:txBody>
      </p:sp>
      <p:sp>
        <p:nvSpPr>
          <p:cNvPr id="3" name="Text 1"/>
          <p:cNvSpPr/>
          <p:nvPr/>
        </p:nvSpPr>
        <p:spPr>
          <a:xfrm>
            <a:off x="6263523" y="2134890"/>
            <a:ext cx="5266697" cy="38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fa-IR" altLang="en-US" sz="105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صنایع مدرن دیگر با روش‌های سنتی قادر به رقابت نیستند. تحول دیجیتال یک انتخاب نیست — یک ضرورت است.</a:t>
            </a:r>
            <a:endParaRPr lang="fa-IR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63523" y="2627313"/>
            <a:ext cx="5266697" cy="8176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19987" y="2783780"/>
            <a:ext cx="4877571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3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پایش بلادرنگ</a:t>
            </a:r>
            <a:endParaRPr lang="fa-IR" sz="1350" dirty="0"/>
          </a:p>
        </p:txBody>
      </p:sp>
      <p:sp>
        <p:nvSpPr>
          <p:cNvPr id="6" name="Text 3"/>
          <p:cNvSpPr/>
          <p:nvPr/>
        </p:nvSpPr>
        <p:spPr>
          <a:xfrm>
            <a:off x="6419987" y="3098502"/>
            <a:ext cx="4877571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fa-IR" altLang="en-US" sz="105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نظارت لحظه‌ای بر وضعیت ماشین‌آلات و خط تولید</a:t>
            </a:r>
            <a:endParaRPr lang="fa-IR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3523" y="3544888"/>
            <a:ext cx="5266697" cy="8176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19987" y="3701355"/>
            <a:ext cx="4877571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3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نگهداری پیش‌بینانه</a:t>
            </a:r>
            <a:endParaRPr lang="fa-IR" sz="1350" dirty="0"/>
          </a:p>
        </p:txBody>
      </p:sp>
      <p:sp>
        <p:nvSpPr>
          <p:cNvPr id="9" name="Text 5"/>
          <p:cNvSpPr/>
          <p:nvPr/>
        </p:nvSpPr>
        <p:spPr>
          <a:xfrm>
            <a:off x="6419987" y="4016077"/>
            <a:ext cx="4877571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fa-IR" altLang="en-US" sz="105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گذار از تعمیرات واکنش‌گرا به پیش‌بینی خرابی قبل از وقوع</a:t>
            </a:r>
            <a:endParaRPr lang="fa-IR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3523" y="4462463"/>
            <a:ext cx="5266697" cy="8176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19987" y="4618930"/>
            <a:ext cx="4877571" cy="21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3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کاهش خطای انسانی</a:t>
            </a:r>
            <a:endParaRPr lang="fa-IR" sz="1350" dirty="0"/>
          </a:p>
        </p:txBody>
      </p:sp>
      <p:sp>
        <p:nvSpPr>
          <p:cNvPr id="12" name="Text 7"/>
          <p:cNvSpPr/>
          <p:nvPr/>
        </p:nvSpPr>
        <p:spPr>
          <a:xfrm>
            <a:off x="6419987" y="4933652"/>
            <a:ext cx="4877571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fa-IR" altLang="en-US" sz="105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مدیریت یکپارچه و خودکار خط تولید با حداقل دخالت انسانی</a:t>
            </a:r>
            <a:endParaRPr lang="fa-IR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544" y="1217017"/>
            <a:ext cx="5003278" cy="50034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228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37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اهداف و چشم‌انداز سیستم</a:t>
            </a:r>
            <a:endParaRPr lang="fa-IR" sz="3700" dirty="0"/>
          </a:p>
        </p:txBody>
      </p:sp>
      <p:sp>
        <p:nvSpPr>
          <p:cNvPr id="3" name="Shape 1"/>
          <p:cNvSpPr/>
          <p:nvPr/>
        </p:nvSpPr>
        <p:spPr>
          <a:xfrm>
            <a:off x="6190401" y="1960959"/>
            <a:ext cx="5339820" cy="1857871"/>
          </a:xfrm>
          <a:prstGeom prst="roundRect">
            <a:avLst>
              <a:gd name="adj" fmla="val 4273"/>
            </a:avLst>
          </a:prstGeom>
          <a:solidFill>
            <a:srgbClr val="110080"/>
          </a:solidFill>
          <a:ln w="6350">
            <a:solidFill>
              <a:srgbClr val="2A1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67842" y="2156321"/>
            <a:ext cx="567021" cy="567035"/>
          </a:xfrm>
          <a:prstGeom prst="ellipse">
            <a:avLst/>
          </a:prstGeom>
          <a:solidFill>
            <a:srgbClr val="2B0A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3810" y="2312194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85757" y="2912368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8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افزایش بهره‌وری (OEE)</a:t>
            </a:r>
            <a:endParaRPr lang="fa-IR" sz="1850" dirty="0"/>
          </a:p>
        </p:txBody>
      </p:sp>
      <p:sp>
        <p:nvSpPr>
          <p:cNvPr id="7" name="Text 4"/>
          <p:cNvSpPr/>
          <p:nvPr/>
        </p:nvSpPr>
        <p:spPr>
          <a:xfrm>
            <a:off x="6385757" y="3321050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fa-IR" altLang="en-US" sz="145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کاهش چشمگیر </a:t>
            </a:r>
            <a:pPr rtl="1" algn="r" indent="0" marL="0">
              <a:lnSpc>
                <a:spcPct val="133000"/>
              </a:lnSpc>
              <a:buNone/>
            </a:pPr>
            <a:r>
              <a:rPr lang="fa-IR" altLang="en-US" sz="14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Downtime</a:t>
            </a:r>
            <a:pPr rtl="1" algn="r" indent="0" marL="0">
              <a:lnSpc>
                <a:spcPct val="133000"/>
              </a:lnSpc>
              <a:buNone/>
            </a:pPr>
            <a:r>
              <a:rPr lang="fa-IR" altLang="en-US" sz="145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ماشین‌آلات</a:t>
            </a:r>
            <a:endParaRPr lang="fa-IR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1960959"/>
            <a:ext cx="5339919" cy="1857871"/>
          </a:xfrm>
          <a:prstGeom prst="roundRect">
            <a:avLst>
              <a:gd name="adj" fmla="val 4273"/>
            </a:avLst>
          </a:prstGeom>
          <a:solidFill>
            <a:srgbClr val="110080"/>
          </a:solidFill>
          <a:ln w="6350">
            <a:solidFill>
              <a:srgbClr val="2A199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39016" y="2156321"/>
            <a:ext cx="567021" cy="567035"/>
          </a:xfrm>
          <a:prstGeom prst="ellipse">
            <a:avLst/>
          </a:prstGeom>
          <a:solidFill>
            <a:srgbClr val="2B0A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4984" y="2312194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6832" y="2912368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8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ارتقای ایمنی</a:t>
            </a:r>
            <a:endParaRPr lang="fa-IR" sz="1850" dirty="0"/>
          </a:p>
        </p:txBody>
      </p:sp>
      <p:sp>
        <p:nvSpPr>
          <p:cNvPr id="12" name="Text 8"/>
          <p:cNvSpPr/>
          <p:nvPr/>
        </p:nvSpPr>
        <p:spPr>
          <a:xfrm>
            <a:off x="856832" y="3321050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fa-IR" altLang="en-US" sz="145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واکنش سخت‌افزاری تضمین‌شده در کمتر از </a:t>
            </a:r>
            <a:pPr rtl="1" algn="r" indent="0" marL="0">
              <a:lnSpc>
                <a:spcPct val="133000"/>
              </a:lnSpc>
              <a:buNone/>
            </a:pPr>
            <a:r>
              <a:rPr lang="fa-IR" altLang="en-US" sz="14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 ثانیه</a:t>
            </a:r>
            <a:endParaRPr lang="fa-IR" sz="1450" dirty="0"/>
          </a:p>
        </p:txBody>
      </p:sp>
      <p:sp>
        <p:nvSpPr>
          <p:cNvPr id="13" name="Shape 9"/>
          <p:cNvSpPr/>
          <p:nvPr/>
        </p:nvSpPr>
        <p:spPr>
          <a:xfrm>
            <a:off x="6190401" y="4007842"/>
            <a:ext cx="5339820" cy="1857871"/>
          </a:xfrm>
          <a:prstGeom prst="roundRect">
            <a:avLst>
              <a:gd name="adj" fmla="val 4273"/>
            </a:avLst>
          </a:prstGeom>
          <a:solidFill>
            <a:srgbClr val="110080"/>
          </a:solidFill>
          <a:ln w="6350">
            <a:solidFill>
              <a:srgbClr val="2A199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767842" y="4203204"/>
            <a:ext cx="567021" cy="567035"/>
          </a:xfrm>
          <a:prstGeom prst="ellipse">
            <a:avLst/>
          </a:prstGeom>
          <a:solidFill>
            <a:srgbClr val="2B0A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3810" y="4359077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85757" y="495925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8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کاهش ضایعات</a:t>
            </a:r>
            <a:endParaRPr lang="fa-IR" sz="1850" dirty="0"/>
          </a:p>
        </p:txBody>
      </p:sp>
      <p:sp>
        <p:nvSpPr>
          <p:cNvPr id="17" name="Text 12"/>
          <p:cNvSpPr/>
          <p:nvPr/>
        </p:nvSpPr>
        <p:spPr>
          <a:xfrm>
            <a:off x="6385757" y="5367933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fa-IR" altLang="en-US" sz="145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تصمیم‌گیری خودکار در تأیید یا رد کیفیت محصول</a:t>
            </a:r>
            <a:endParaRPr lang="fa-IR" sz="1450" dirty="0"/>
          </a:p>
        </p:txBody>
      </p:sp>
      <p:sp>
        <p:nvSpPr>
          <p:cNvPr id="18" name="Shape 13"/>
          <p:cNvSpPr/>
          <p:nvPr/>
        </p:nvSpPr>
        <p:spPr>
          <a:xfrm>
            <a:off x="661475" y="4007842"/>
            <a:ext cx="5339919" cy="1857871"/>
          </a:xfrm>
          <a:prstGeom prst="roundRect">
            <a:avLst>
              <a:gd name="adj" fmla="val 4273"/>
            </a:avLst>
          </a:prstGeom>
          <a:solidFill>
            <a:srgbClr val="110080"/>
          </a:solidFill>
          <a:ln w="6350">
            <a:solidFill>
              <a:srgbClr val="2A199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239016" y="4203204"/>
            <a:ext cx="567021" cy="567035"/>
          </a:xfrm>
          <a:prstGeom prst="ellipse">
            <a:avLst/>
          </a:prstGeom>
          <a:solidFill>
            <a:srgbClr val="2B0A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94984" y="4359077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6832" y="4959251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8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مدیریت هوشمند</a:t>
            </a:r>
            <a:endParaRPr lang="fa-IR" sz="1850" dirty="0"/>
          </a:p>
        </p:txBody>
      </p:sp>
      <p:sp>
        <p:nvSpPr>
          <p:cNvPr id="22" name="Text 16"/>
          <p:cNvSpPr/>
          <p:nvPr/>
        </p:nvSpPr>
        <p:spPr>
          <a:xfrm>
            <a:off x="856832" y="5367933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33000"/>
              </a:lnSpc>
              <a:buNone/>
            </a:pPr>
            <a:r>
              <a:rPr lang="fa-IR" altLang="en-US" sz="145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ثبت متمرکز داده‌های پرسنل و کنترل دسترسی‌ها</a:t>
            </a:r>
            <a:endParaRPr lang="fa-IR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9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 چالش اساسی و گلوگاه تولید</a:t>
            </a:r>
            <a:endParaRPr lang="fa-IR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4709" y="961132"/>
            <a:ext cx="5315512" cy="53156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51369" y="2760166"/>
            <a:ext cx="219268" cy="219273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6350">
            <a:solidFill>
              <a:srgbClr val="2A19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87930" y="2778472"/>
            <a:ext cx="146146" cy="1826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5125" y="2793603"/>
            <a:ext cx="5046040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9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توقف ناگهانی ماشین‌آلات</a:t>
            </a:r>
            <a:endParaRPr lang="fa-IR" sz="950" dirty="0"/>
          </a:p>
        </p:txBody>
      </p:sp>
      <p:sp>
        <p:nvSpPr>
          <p:cNvPr id="7" name="Text 4"/>
          <p:cNvSpPr/>
          <p:nvPr/>
        </p:nvSpPr>
        <p:spPr>
          <a:xfrm>
            <a:off x="655125" y="2996109"/>
            <a:ext cx="5046040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1000"/>
              </a:lnSpc>
              <a:buNone/>
            </a:pPr>
            <a:r>
              <a:rPr lang="fa-IR" altLang="en-US" sz="75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خرابی‌های پیش‌بینی‌نشده و از دست رفتن ظرفیت تولید</a:t>
            </a:r>
            <a:endParaRPr lang="fa-IR" sz="750" dirty="0"/>
          </a:p>
        </p:txBody>
      </p:sp>
      <p:sp>
        <p:nvSpPr>
          <p:cNvPr id="8" name="Shape 5"/>
          <p:cNvSpPr/>
          <p:nvPr/>
        </p:nvSpPr>
        <p:spPr>
          <a:xfrm>
            <a:off x="5751369" y="3214688"/>
            <a:ext cx="219268" cy="219273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6350">
            <a:solidFill>
              <a:srgbClr val="2A19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87930" y="3232993"/>
            <a:ext cx="146146" cy="1826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55125" y="3248124"/>
            <a:ext cx="5046040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9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تأخیر در تشخیص حوادث</a:t>
            </a:r>
            <a:endParaRPr lang="fa-IR" sz="950" dirty="0"/>
          </a:p>
        </p:txBody>
      </p:sp>
      <p:sp>
        <p:nvSpPr>
          <p:cNvPr id="11" name="Text 8"/>
          <p:cNvSpPr/>
          <p:nvPr/>
        </p:nvSpPr>
        <p:spPr>
          <a:xfrm>
            <a:off x="655125" y="3450630"/>
            <a:ext cx="5046040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1000"/>
              </a:lnSpc>
              <a:buNone/>
            </a:pPr>
            <a:r>
              <a:rPr lang="fa-IR" altLang="en-US" sz="75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آسیب‌پذیری زیرساخت در برابر خطرات ایمنی</a:t>
            </a:r>
            <a:endParaRPr lang="fa-IR" sz="750" dirty="0"/>
          </a:p>
        </p:txBody>
      </p:sp>
      <p:sp>
        <p:nvSpPr>
          <p:cNvPr id="12" name="Shape 9"/>
          <p:cNvSpPr/>
          <p:nvPr/>
        </p:nvSpPr>
        <p:spPr>
          <a:xfrm>
            <a:off x="5751369" y="3669209"/>
            <a:ext cx="219268" cy="219273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6350">
            <a:solidFill>
              <a:srgbClr val="2A19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87930" y="3687514"/>
            <a:ext cx="146146" cy="1826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3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55125" y="3702645"/>
            <a:ext cx="5046040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9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خطای انسانی و افت کیفیت</a:t>
            </a:r>
            <a:endParaRPr lang="fa-IR" sz="950" dirty="0"/>
          </a:p>
        </p:txBody>
      </p:sp>
      <p:sp>
        <p:nvSpPr>
          <p:cNvPr id="15" name="Text 12"/>
          <p:cNvSpPr/>
          <p:nvPr/>
        </p:nvSpPr>
        <p:spPr>
          <a:xfrm>
            <a:off x="655125" y="3905151"/>
            <a:ext cx="5046040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1000"/>
              </a:lnSpc>
              <a:buNone/>
            </a:pPr>
            <a:r>
              <a:rPr lang="fa-IR" altLang="en-US" sz="75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ناتوانی اپراتور در خطوط تولید با سرعت بالا</a:t>
            </a:r>
            <a:endParaRPr lang="fa-IR" sz="750" dirty="0"/>
          </a:p>
        </p:txBody>
      </p:sp>
      <p:sp>
        <p:nvSpPr>
          <p:cNvPr id="16" name="Shape 13"/>
          <p:cNvSpPr/>
          <p:nvPr/>
        </p:nvSpPr>
        <p:spPr>
          <a:xfrm>
            <a:off x="5751369" y="4123730"/>
            <a:ext cx="219268" cy="219273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6350">
            <a:solidFill>
              <a:srgbClr val="2A19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87930" y="4142036"/>
            <a:ext cx="146146" cy="1826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55125" y="4157166"/>
            <a:ext cx="5046040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9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بی‌نظمی مدیریت نیروی کار</a:t>
            </a:r>
            <a:endParaRPr lang="fa-IR" sz="950" dirty="0"/>
          </a:p>
        </p:txBody>
      </p:sp>
      <p:sp>
        <p:nvSpPr>
          <p:cNvPr id="19" name="Text 16"/>
          <p:cNvSpPr/>
          <p:nvPr/>
        </p:nvSpPr>
        <p:spPr>
          <a:xfrm>
            <a:off x="655125" y="4359672"/>
            <a:ext cx="5046040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1000"/>
              </a:lnSpc>
              <a:buNone/>
            </a:pPr>
            <a:r>
              <a:rPr lang="fa-IR" altLang="en-US" sz="75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پراکندگی داده‌های پرسنلی و دشواری گزارش‌گیری</a:t>
            </a:r>
            <a:endParaRPr lang="fa-IR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8722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33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تحلیل عمیق چالش‌ها</a:t>
            </a:r>
            <a:endParaRPr lang="fa-IR" sz="3300" dirty="0"/>
          </a:p>
        </p:txBody>
      </p:sp>
      <p:sp>
        <p:nvSpPr>
          <p:cNvPr id="3" name="Text 1"/>
          <p:cNvSpPr/>
          <p:nvPr/>
        </p:nvSpPr>
        <p:spPr>
          <a:xfrm>
            <a:off x="51890" y="1406525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7000"/>
              </a:lnSpc>
              <a:buNone/>
            </a:pPr>
            <a:r>
              <a:rPr lang="ar-SA" altLang="en-US" sz="130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از </a:t>
            </a:r>
            <a:pPr rtl="1" algn="r" indent="0" marL="0">
              <a:lnSpc>
                <a:spcPct val="127000"/>
              </a:lnSpc>
              <a:buNone/>
            </a:pPr>
            <a:r>
              <a:rPr lang="fa-IR" altLang="en-US" sz="130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استهلاک پنهان</a:t>
            </a:r>
            <a:pPr rtl="1" algn="r" indent="0" marL="0">
              <a:lnSpc>
                <a:spcPct val="127000"/>
              </a:lnSpc>
              <a:buNone/>
            </a:pPr>
            <a:r>
              <a:rPr lang="ar-SA" altLang="en-US" sz="130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تا </a:t>
            </a:r>
            <a:pPr rtl="1" algn="r" indent="0" marL="0">
              <a:lnSpc>
                <a:spcPct val="127000"/>
              </a:lnSpc>
              <a:buNone/>
            </a:pPr>
            <a:r>
              <a:rPr lang="fa-IR" altLang="en-US" sz="130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خطای انسانی</a:t>
            </a:r>
            <a:pPr rtl="1" algn="r" indent="0" marL="0">
              <a:lnSpc>
                <a:spcPct val="127000"/>
              </a:lnSpc>
              <a:buNone/>
            </a:pPr>
            <a:r>
              <a:rPr lang="fa-IR" altLang="en-US" sz="130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— هر گلوگاه، یک فرصت برای هوشمندسازی</a:t>
            </a:r>
            <a:endParaRPr lang="fa-IR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72442" y="1837333"/>
            <a:ext cx="5357778" cy="1746151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23789" y="1980704"/>
            <a:ext cx="255085" cy="2550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61549" y="2519759"/>
            <a:ext cx="49795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6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استهلاک پنهان</a:t>
            </a:r>
            <a:endParaRPr lang="fa-IR" sz="1650" dirty="0"/>
          </a:p>
        </p:txBody>
      </p:sp>
      <p:sp>
        <p:nvSpPr>
          <p:cNvPr id="7" name="Text 3"/>
          <p:cNvSpPr/>
          <p:nvPr/>
        </p:nvSpPr>
        <p:spPr>
          <a:xfrm>
            <a:off x="6361549" y="2877245"/>
            <a:ext cx="497956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27000"/>
              </a:lnSpc>
              <a:buNone/>
            </a:pPr>
            <a:r>
              <a:rPr lang="fa-IR" altLang="en-US" sz="130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عدم تشخیص زودهنگام فرسودگی </a:t>
            </a:r>
            <a:pPr rtl="1" algn="r" indent="0" marL="0">
              <a:lnSpc>
                <a:spcPct val="127000"/>
              </a:lnSpc>
              <a:buNone/>
            </a:pPr>
            <a:r>
              <a:rPr lang="fa-IR" altLang="en-US" sz="130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بلبرینگ‌ها</a:t>
            </a:r>
            <a:pPr rtl="1" algn="r" indent="0" marL="0">
              <a:lnSpc>
                <a:spcPct val="127000"/>
              </a:lnSpc>
              <a:buNone/>
            </a:pPr>
            <a:r>
              <a:rPr lang="fa-IR" altLang="en-US" sz="130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و شفت‌های موتور — خرابی ناگهانی و پرهزینه</a:t>
            </a:r>
            <a:endParaRPr lang="fa-IR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1837333"/>
            <a:ext cx="5357877" cy="1746151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12920" y="1980704"/>
            <a:ext cx="255085" cy="25509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50581" y="2519759"/>
            <a:ext cx="4979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6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خطر حریق</a:t>
            </a:r>
            <a:endParaRPr lang="fa-IR" sz="1650" dirty="0"/>
          </a:p>
        </p:txBody>
      </p:sp>
      <p:sp>
        <p:nvSpPr>
          <p:cNvPr id="11" name="Text 5"/>
          <p:cNvSpPr/>
          <p:nvPr/>
        </p:nvSpPr>
        <p:spPr>
          <a:xfrm>
            <a:off x="850581" y="2877245"/>
            <a:ext cx="497966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27000"/>
              </a:lnSpc>
              <a:buNone/>
            </a:pPr>
            <a:r>
              <a:rPr lang="fa-IR" altLang="en-US" sz="130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اتکای صرف به سیستم‌های هشدار مستقل و </a:t>
            </a:r>
            <a:pPr rtl="1" algn="r" indent="0" marL="0">
              <a:lnSpc>
                <a:spcPct val="127000"/>
              </a:lnSpc>
              <a:buNone/>
            </a:pPr>
            <a:r>
              <a:rPr lang="fa-IR" altLang="en-US" sz="130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آسیب‌پذیری زیرساخت‌ها</a:t>
            </a:r>
            <a:pPr rtl="1" algn="r" indent="0" marL="0">
              <a:lnSpc>
                <a:spcPct val="127000"/>
              </a:lnSpc>
              <a:buNone/>
            </a:pPr>
            <a:r>
              <a:rPr lang="ar-SA" altLang="en-US" sz="130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در برابر سانحه</a:t>
            </a:r>
            <a:endParaRPr lang="fa-IR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72442" y="3736578"/>
            <a:ext cx="5357778" cy="1746151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23789" y="3879949"/>
            <a:ext cx="255085" cy="255091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361549" y="4419005"/>
            <a:ext cx="49795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6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افت کیفیت</a:t>
            </a:r>
            <a:endParaRPr lang="fa-IR" sz="1650" dirty="0"/>
          </a:p>
        </p:txBody>
      </p:sp>
      <p:sp>
        <p:nvSpPr>
          <p:cNvPr id="15" name="Text 7"/>
          <p:cNvSpPr/>
          <p:nvPr/>
        </p:nvSpPr>
        <p:spPr>
          <a:xfrm>
            <a:off x="6361549" y="4776490"/>
            <a:ext cx="497956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27000"/>
              </a:lnSpc>
              <a:buNone/>
            </a:pPr>
            <a:r>
              <a:rPr lang="fa-IR" altLang="en-US" sz="130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خطای بصری اپراتور در </a:t>
            </a:r>
            <a:pPr rtl="1" algn="r" indent="0" marL="0">
              <a:lnSpc>
                <a:spcPct val="127000"/>
              </a:lnSpc>
              <a:buNone/>
            </a:pPr>
            <a:r>
              <a:rPr lang="fa-IR" altLang="en-US" sz="130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خطوط تولید پرسرعت</a:t>
            </a:r>
            <a:pPr rtl="1" algn="r" indent="0" marL="0">
              <a:lnSpc>
                <a:spcPct val="127000"/>
              </a:lnSpc>
              <a:buNone/>
            </a:pPr>
            <a:r>
              <a:rPr lang="fa-IR" altLang="en-US" sz="130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— رد ناقص محصولات معیوب</a:t>
            </a:r>
            <a:endParaRPr lang="fa-IR" sz="13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3736578"/>
            <a:ext cx="5357877" cy="1746151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12920" y="3879949"/>
            <a:ext cx="255085" cy="255091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850581" y="4419005"/>
            <a:ext cx="4979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04000"/>
              </a:lnSpc>
              <a:buNone/>
            </a:pPr>
            <a:r>
              <a:rPr lang="fa-IR" altLang="en-US" sz="165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پراکندگی داده</a:t>
            </a:r>
            <a:endParaRPr lang="fa-IR" sz="1650" dirty="0"/>
          </a:p>
        </p:txBody>
      </p:sp>
      <p:sp>
        <p:nvSpPr>
          <p:cNvPr id="19" name="Text 9"/>
          <p:cNvSpPr/>
          <p:nvPr/>
        </p:nvSpPr>
        <p:spPr>
          <a:xfrm>
            <a:off x="850581" y="4776490"/>
            <a:ext cx="497966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7000"/>
              </a:lnSpc>
              <a:buNone/>
            </a:pPr>
            <a:r>
              <a:rPr lang="fa-IR" altLang="en-US" sz="1300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عدم یکپارچگی اطلاعات پرسنلی و </a:t>
            </a:r>
            <a:pPr rtl="1" algn="r" indent="0" marL="0">
              <a:lnSpc>
                <a:spcPct val="127000"/>
              </a:lnSpc>
              <a:buNone/>
            </a:pPr>
            <a:r>
              <a:rPr lang="fa-IR" altLang="en-US" sz="1300" b="1" dirty="0">
                <a:solidFill>
                  <a:srgbClr val="E5E0D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دشواری تهیه گزارش راندمان شیفت‌ها</a:t>
            </a:r>
            <a:endParaRPr lang="fa-IR" sz="1300" dirty="0"/>
          </a:p>
        </p:txBody>
      </p:sp>
      <p:sp>
        <p:nvSpPr>
          <p:cNvPr id="20" name="Shape 10"/>
          <p:cNvSpPr/>
          <p:nvPr/>
        </p:nvSpPr>
        <p:spPr>
          <a:xfrm>
            <a:off x="661475" y="5654973"/>
            <a:ext cx="10868745" cy="634305"/>
          </a:xfrm>
          <a:prstGeom prst="roundRect">
            <a:avLst>
              <a:gd name="adj" fmla="val 11264"/>
            </a:avLst>
          </a:prstGeom>
          <a:solidFill>
            <a:srgbClr val="110080"/>
          </a:solidFill>
          <a:ln/>
        </p:spPr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1532" y="5890121"/>
            <a:ext cx="212620" cy="170061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04624" y="5850533"/>
            <a:ext cx="1075554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1" algn="r" indent="0" marL="0">
              <a:lnSpc>
                <a:spcPct val="127000"/>
              </a:lnSpc>
              <a:buNone/>
            </a:pPr>
            <a:r>
              <a:rPr lang="fa-IR" altLang="en-US" sz="1300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راهکار SMART Factory هر چهار چالش را با یک پلتفرم یکپارچه و بلادرنگ پوشش می‌دهد.</a:t>
            </a:r>
            <a:endParaRPr lang="fa-IR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 panose="020F0302020204030204"/>
        <a:ea typeface="Vazirmatn"/>
        <a:cs typeface="Vazirmatn"/>
        <a:font script="Jpan" typeface="Vazirmatn"/>
        <a:font script="Hang" typeface="Vazirmatn"/>
        <a:font script="Hans" typeface="Vazirmatn"/>
        <a:font script="Hant" typeface="Vazirmatn"/>
        <a:font script="Arab" typeface="Vazirmatn"/>
        <a:font script="Hebr" typeface="Vazirmatn"/>
        <a:font script="Thai" typeface="Vazirmatn"/>
        <a:font script="Ethi" typeface="Vazirmatn"/>
        <a:font script="Beng" typeface="Vazirmatn"/>
        <a:font script="Gujr" typeface="Vazirmatn"/>
        <a:font script="Khmr" typeface="Vazirmatn"/>
        <a:font script="Knda" typeface="Vazirmatn"/>
        <a:font script="Guru" typeface="Vazirmatn"/>
        <a:font script="Cans" typeface="Vazirmatn"/>
        <a:font script="Cher" typeface="Vazirmatn"/>
        <a:font script="Yiii" typeface="Vazirmatn"/>
        <a:font script="Tibt" typeface="Vazirmatn"/>
        <a:font script="Thaa" typeface="Vazirmatn"/>
        <a:font script="Deva" typeface="Vazirmatn"/>
        <a:font script="Telu" typeface="Vazirmatn"/>
        <a:font script="Taml" typeface="Vazirmatn"/>
        <a:font script="Syrc" typeface="Vazirmatn"/>
        <a:font script="Orya" typeface="Vazirmatn"/>
        <a:font script="Mlym" typeface="Vazirmatn"/>
        <a:font script="Laoo" typeface="Vazirmatn"/>
        <a:font script="Sinh" typeface="Vazirmatn"/>
        <a:font script="Mong" typeface="Vazirmatn"/>
        <a:font script="Viet" typeface="Vazirmatn"/>
        <a:font script="Uigh" typeface="Vazirmatn"/>
        <a:font script="Geor" typeface="Vazirmatn"/>
        <a:font script="Armn" typeface="Vazirmatn"/>
        <a:font script="Bugi" typeface="Vazirmatn"/>
        <a:font script="Bopo" typeface="Vazirmatn"/>
        <a:font script="Java" typeface="Vazirmatn"/>
        <a:font script="Lisu" typeface="Vazirmatn"/>
        <a:font script="Mymr" typeface="Vazirmatn"/>
        <a:font script="Nkoo" typeface="Vazirmatn"/>
        <a:font script="Olck" typeface="Vazirmatn"/>
        <a:font script="Osma" typeface="Vazirmatn"/>
        <a:font script="Phag" typeface="Vazirmatn"/>
        <a:font script="Syrn" typeface="Vazirmatn"/>
        <a:font script="Syrj" typeface="Vazirmatn"/>
        <a:font script="Syre" typeface="Vazirmatn"/>
        <a:font script="Sora" typeface="Vazirmatn"/>
        <a:font script="Tale" typeface="Vazirmatn"/>
        <a:font script="Talu" typeface="Vazirmatn"/>
        <a:font script="Tfng" typeface="Vazirmatn"/>
      </a:majorFont>
      <a:minorFont>
        <a:latin typeface="Vazirmatn" panose="020F0502020204030204"/>
        <a:ea typeface="Vazirmatn"/>
        <a:cs typeface="Vazirmatn"/>
        <a:font script="Jpan" typeface="Vazirmatn"/>
        <a:font script="Hang" typeface="Vazirmatn"/>
        <a:font script="Hans" typeface="Vazirmatn"/>
        <a:font script="Hant" typeface="Vazirmatn"/>
        <a:font script="Arab" typeface="Vazirmatn"/>
        <a:font script="Hebr" typeface="Vazirmatn"/>
        <a:font script="Thai" typeface="Vazirmatn"/>
        <a:font script="Ethi" typeface="Vazirmatn"/>
        <a:font script="Beng" typeface="Vazirmatn"/>
        <a:font script="Gujr" typeface="Vazirmatn"/>
        <a:font script="Khmr" typeface="Vazirmatn"/>
        <a:font script="Knda" typeface="Vazirmatn"/>
        <a:font script="Guru" typeface="Vazirmatn"/>
        <a:font script="Cans" typeface="Vazirmatn"/>
        <a:font script="Cher" typeface="Vazirmatn"/>
        <a:font script="Yiii" typeface="Vazirmatn"/>
        <a:font script="Tibt" typeface="Vazirmatn"/>
        <a:font script="Thaa" typeface="Vazirmatn"/>
        <a:font script="Deva" typeface="Vazirmatn"/>
        <a:font script="Telu" typeface="Vazirmatn"/>
        <a:font script="Taml" typeface="Vazirmatn"/>
        <a:font script="Syrc" typeface="Vazirmatn"/>
        <a:font script="Orya" typeface="Vazirmatn"/>
        <a:font script="Mlym" typeface="Vazirmatn"/>
        <a:font script="Laoo" typeface="Vazirmatn"/>
        <a:font script="Sinh" typeface="Vazirmatn"/>
        <a:font script="Mong" typeface="Vazirmatn"/>
        <a:font script="Viet" typeface="Vazirmatn"/>
        <a:font script="Uigh" typeface="Vazirmatn"/>
        <a:font script="Geor" typeface="Vazirmatn"/>
        <a:font script="Armn" typeface="Vazirmatn"/>
        <a:font script="Bugi" typeface="Vazirmatn"/>
        <a:font script="Bopo" typeface="Vazirmatn"/>
        <a:font script="Java" typeface="Vazirmatn"/>
        <a:font script="Lisu" typeface="Vazirmatn"/>
        <a:font script="Mymr" typeface="Vazirmatn"/>
        <a:font script="Nkoo" typeface="Vazirmatn"/>
        <a:font script="Olck" typeface="Vazirmatn"/>
        <a:font script="Osma" typeface="Vazirmatn"/>
        <a:font script="Phag" typeface="Vazirmatn"/>
        <a:font script="Syrn" typeface="Vazirmatn"/>
        <a:font script="Syrj" typeface="Vazirmatn"/>
        <a:font script="Syre" typeface="Vazirmatn"/>
        <a:font script="Sora" typeface="Vazirmatn"/>
        <a:font script="Tale" typeface="Vazirmatn"/>
        <a:font script="Talu" typeface="Vazirmatn"/>
        <a:font script="Tfng" typeface="Vazirmat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2026-07-21T11:22:57Z</dcterms:created>
  <dcterms:modified xsi:type="dcterms:W3CDTF">2026-07-21T11:22:57Z</dcterms:modified>
</cp:coreProperties>
</file>